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1A17E4-57F9-492C-9CD6-E9B369BE60F9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EA35F-9EA8-442A-80CD-A2CA80078A40}">
      <dgm:prSet/>
      <dgm:spPr/>
      <dgm:t>
        <a:bodyPr/>
        <a:lstStyle/>
        <a:p>
          <a:r>
            <a:rPr lang="es-MX" dirty="0"/>
            <a:t>Explica la diferencia entre:</a:t>
          </a:r>
        </a:p>
        <a:p>
          <a:r>
            <a:rPr lang="es-MX" i="1" dirty="0"/>
            <a:t>	</a:t>
          </a:r>
          <a:r>
            <a:rPr lang="es-MX" i="1" dirty="0" err="1"/>
            <a:t>Console.WriteLine</a:t>
          </a:r>
          <a:r>
            <a:rPr lang="es-MX" i="1" dirty="0"/>
            <a:t>(</a:t>
          </a:r>
          <a:r>
            <a:rPr lang="es-MX" i="1" dirty="0" err="1"/>
            <a:t>texto.Substring</a:t>
          </a:r>
          <a:r>
            <a:rPr lang="es-MX" i="1" dirty="0"/>
            <a:t>(5));</a:t>
          </a:r>
          <a:endParaRPr lang="en-US" dirty="0"/>
        </a:p>
        <a:p>
          <a:r>
            <a:rPr lang="es-MX" i="1" dirty="0"/>
            <a:t>	</a:t>
          </a:r>
          <a:r>
            <a:rPr lang="es-MX" i="1" dirty="0" err="1"/>
            <a:t>Console.WriteLine</a:t>
          </a:r>
          <a:r>
            <a:rPr lang="es-MX" i="1" dirty="0"/>
            <a:t>(</a:t>
          </a:r>
          <a:r>
            <a:rPr lang="es-MX" i="1" dirty="0" err="1"/>
            <a:t>texto.Substring</a:t>
          </a:r>
          <a:r>
            <a:rPr lang="es-MX" i="1" dirty="0"/>
            <a:t>(5,5));</a:t>
          </a:r>
          <a:r>
            <a:rPr lang="es-MX" dirty="0"/>
            <a:t> </a:t>
          </a:r>
          <a:endParaRPr lang="en-US" dirty="0"/>
        </a:p>
      </dgm:t>
    </dgm:pt>
    <dgm:pt modelId="{3AD3BF8C-5C86-423F-91CD-F16E74FDEF05}" type="parTrans" cxnId="{47A35806-1547-46E0-ABED-B2F34D556A75}">
      <dgm:prSet/>
      <dgm:spPr/>
      <dgm:t>
        <a:bodyPr/>
        <a:lstStyle/>
        <a:p>
          <a:endParaRPr lang="en-US" sz="2800"/>
        </a:p>
      </dgm:t>
    </dgm:pt>
    <dgm:pt modelId="{DA859E8C-7A8E-4306-A7FE-098984535227}" type="sibTrans" cxnId="{47A35806-1547-46E0-ABED-B2F34D556A75}">
      <dgm:prSet/>
      <dgm:spPr/>
      <dgm:t>
        <a:bodyPr/>
        <a:lstStyle/>
        <a:p>
          <a:endParaRPr lang="en-US"/>
        </a:p>
      </dgm:t>
    </dgm:pt>
    <dgm:pt modelId="{65C9D412-B40E-4F9C-9563-3E093697CFA7}">
      <dgm:prSet/>
      <dgm:spPr/>
      <dgm:t>
        <a:bodyPr/>
        <a:lstStyle/>
        <a:p>
          <a:r>
            <a:rPr lang="es-MX" dirty="0"/>
            <a:t>Utilizando la palabra “Hola”, del </a:t>
          </a:r>
          <a:r>
            <a:rPr lang="es-MX" dirty="0" err="1"/>
            <a:t>string</a:t>
          </a:r>
          <a:r>
            <a:rPr lang="es-MX" dirty="0"/>
            <a:t> texto, escriba el código necesario para imprimir en pantalla la frase concatenada de “Hola a todos </a:t>
          </a:r>
          <a:r>
            <a:rPr lang="es-MX" dirty="0">
              <a:sym typeface="Wingdings" panose="05000000000000000000" pitchFamily="2" charset="2"/>
            </a:rPr>
            <a:t></a:t>
          </a:r>
          <a:r>
            <a:rPr lang="es-MX" dirty="0"/>
            <a:t>”</a:t>
          </a:r>
          <a:endParaRPr lang="en-US" dirty="0"/>
        </a:p>
      </dgm:t>
    </dgm:pt>
    <dgm:pt modelId="{7C20CBDF-0D12-4945-A845-B0C9AA8B0C09}" type="parTrans" cxnId="{3FF68B6F-9B2B-40F5-85FF-00C4064960FD}">
      <dgm:prSet/>
      <dgm:spPr/>
      <dgm:t>
        <a:bodyPr/>
        <a:lstStyle/>
        <a:p>
          <a:endParaRPr lang="en-US" sz="2800"/>
        </a:p>
      </dgm:t>
    </dgm:pt>
    <dgm:pt modelId="{85D89F0C-69AE-411B-BACF-84B0E1D082C7}" type="sibTrans" cxnId="{3FF68B6F-9B2B-40F5-85FF-00C4064960FD}">
      <dgm:prSet/>
      <dgm:spPr/>
      <dgm:t>
        <a:bodyPr/>
        <a:lstStyle/>
        <a:p>
          <a:endParaRPr lang="en-US"/>
        </a:p>
      </dgm:t>
    </dgm:pt>
    <dgm:pt modelId="{7DD8119D-3473-4012-935E-6B79B6B52596}">
      <dgm:prSet/>
      <dgm:spPr/>
      <dgm:t>
        <a:bodyPr/>
        <a:lstStyle/>
        <a:p>
          <a:r>
            <a:rPr lang="es-MX" dirty="0"/>
            <a:t>Utilizando la palabra “Mundo”, del </a:t>
          </a:r>
          <a:r>
            <a:rPr lang="es-MX" dirty="0" err="1"/>
            <a:t>string</a:t>
          </a:r>
          <a:r>
            <a:rPr lang="es-MX" dirty="0"/>
            <a:t> texto, escriba el código necesario para imprimir en pantalla la frase concatenada de “Adiós mundo cruel </a:t>
          </a:r>
          <a:r>
            <a:rPr lang="es-MX" dirty="0">
              <a:sym typeface="Wingdings" panose="05000000000000000000" pitchFamily="2" charset="2"/>
            </a:rPr>
            <a:t></a:t>
          </a:r>
          <a:r>
            <a:rPr lang="es-MX" dirty="0"/>
            <a:t>”</a:t>
          </a:r>
          <a:endParaRPr lang="en-US" dirty="0"/>
        </a:p>
      </dgm:t>
    </dgm:pt>
    <dgm:pt modelId="{7492BF4A-EA07-447E-9FCE-D93F2617D9FA}" type="parTrans" cxnId="{547435A6-AD36-41F9-9390-A05E51BDEA61}">
      <dgm:prSet/>
      <dgm:spPr/>
      <dgm:t>
        <a:bodyPr/>
        <a:lstStyle/>
        <a:p>
          <a:endParaRPr lang="en-US" sz="2800"/>
        </a:p>
      </dgm:t>
    </dgm:pt>
    <dgm:pt modelId="{BD232E3F-4711-4C32-A1F2-1B67A41EAAB5}" type="sibTrans" cxnId="{547435A6-AD36-41F9-9390-A05E51BDEA61}">
      <dgm:prSet/>
      <dgm:spPr/>
      <dgm:t>
        <a:bodyPr/>
        <a:lstStyle/>
        <a:p>
          <a:endParaRPr lang="en-US"/>
        </a:p>
      </dgm:t>
    </dgm:pt>
    <dgm:pt modelId="{65EA38B2-97E9-4378-B903-B2B2DB607B06}">
      <dgm:prSet/>
      <dgm:spPr/>
      <dgm:t>
        <a:bodyPr/>
        <a:lstStyle/>
        <a:p>
          <a:r>
            <a:rPr lang="es-MX" dirty="0"/>
            <a:t>Utilizando un ciclo </a:t>
          </a:r>
          <a:r>
            <a:rPr lang="es-MX" dirty="0" err="1"/>
            <a:t>For</a:t>
          </a:r>
          <a:r>
            <a:rPr lang="es-MX" dirty="0"/>
            <a:t>, recorra todos los caracteres del </a:t>
          </a:r>
          <a:r>
            <a:rPr lang="es-MX" dirty="0" err="1"/>
            <a:t>string</a:t>
          </a:r>
          <a:r>
            <a:rPr lang="es-MX" dirty="0"/>
            <a:t> texto, y convierta solo las vocales a mayúsculas.</a:t>
          </a:r>
          <a:endParaRPr lang="en-US" dirty="0"/>
        </a:p>
      </dgm:t>
    </dgm:pt>
    <dgm:pt modelId="{16629490-B327-4823-9083-1F486B4F6274}" type="parTrans" cxnId="{B25B700D-CFD9-489B-9EED-8FC885ABD5B7}">
      <dgm:prSet/>
      <dgm:spPr/>
      <dgm:t>
        <a:bodyPr/>
        <a:lstStyle/>
        <a:p>
          <a:endParaRPr lang="en-US" sz="2800"/>
        </a:p>
      </dgm:t>
    </dgm:pt>
    <dgm:pt modelId="{818815CA-1AB2-4FC0-B56A-0297F0EE9E24}" type="sibTrans" cxnId="{B25B700D-CFD9-489B-9EED-8FC885ABD5B7}">
      <dgm:prSet/>
      <dgm:spPr/>
      <dgm:t>
        <a:bodyPr/>
        <a:lstStyle/>
        <a:p>
          <a:endParaRPr lang="en-US"/>
        </a:p>
      </dgm:t>
    </dgm:pt>
    <dgm:pt modelId="{6ECB68C0-1580-4580-9C13-EEE207AF78A4}" type="pres">
      <dgm:prSet presAssocID="{0D1A17E4-57F9-492C-9CD6-E9B369BE60F9}" presName="vert0" presStyleCnt="0">
        <dgm:presLayoutVars>
          <dgm:dir/>
          <dgm:animOne val="branch"/>
          <dgm:animLvl val="lvl"/>
        </dgm:presLayoutVars>
      </dgm:prSet>
      <dgm:spPr/>
    </dgm:pt>
    <dgm:pt modelId="{2E352E92-EC8D-4827-86A6-A7618AEAF49A}" type="pres">
      <dgm:prSet presAssocID="{EB9EA35F-9EA8-442A-80CD-A2CA80078A40}" presName="thickLine" presStyleLbl="alignNode1" presStyleIdx="0" presStyleCnt="4"/>
      <dgm:spPr/>
    </dgm:pt>
    <dgm:pt modelId="{BB934E5D-E852-4325-862F-D46BA18DFA07}" type="pres">
      <dgm:prSet presAssocID="{EB9EA35F-9EA8-442A-80CD-A2CA80078A40}" presName="horz1" presStyleCnt="0"/>
      <dgm:spPr/>
    </dgm:pt>
    <dgm:pt modelId="{BC3F1A9F-D225-437E-9762-6C7B2918C2EA}" type="pres">
      <dgm:prSet presAssocID="{EB9EA35F-9EA8-442A-80CD-A2CA80078A40}" presName="tx1" presStyleLbl="revTx" presStyleIdx="0" presStyleCnt="4"/>
      <dgm:spPr/>
    </dgm:pt>
    <dgm:pt modelId="{133168E0-E37B-4A9E-8EAE-063B1CF5FA3F}" type="pres">
      <dgm:prSet presAssocID="{EB9EA35F-9EA8-442A-80CD-A2CA80078A40}" presName="vert1" presStyleCnt="0"/>
      <dgm:spPr/>
    </dgm:pt>
    <dgm:pt modelId="{AC79377C-CCD4-4B59-8FCA-D5529267485E}" type="pres">
      <dgm:prSet presAssocID="{65C9D412-B40E-4F9C-9563-3E093697CFA7}" presName="thickLine" presStyleLbl="alignNode1" presStyleIdx="1" presStyleCnt="4"/>
      <dgm:spPr/>
    </dgm:pt>
    <dgm:pt modelId="{4592B40B-2FE2-4094-81BE-23444F36F488}" type="pres">
      <dgm:prSet presAssocID="{65C9D412-B40E-4F9C-9563-3E093697CFA7}" presName="horz1" presStyleCnt="0"/>
      <dgm:spPr/>
    </dgm:pt>
    <dgm:pt modelId="{5A492D11-438A-4D5F-8445-BF9CB56A388A}" type="pres">
      <dgm:prSet presAssocID="{65C9D412-B40E-4F9C-9563-3E093697CFA7}" presName="tx1" presStyleLbl="revTx" presStyleIdx="1" presStyleCnt="4"/>
      <dgm:spPr/>
    </dgm:pt>
    <dgm:pt modelId="{74D834C1-178F-497D-82E8-A5914182C431}" type="pres">
      <dgm:prSet presAssocID="{65C9D412-B40E-4F9C-9563-3E093697CFA7}" presName="vert1" presStyleCnt="0"/>
      <dgm:spPr/>
    </dgm:pt>
    <dgm:pt modelId="{1F588D5A-43BF-4215-9F9B-F9E16D453073}" type="pres">
      <dgm:prSet presAssocID="{7DD8119D-3473-4012-935E-6B79B6B52596}" presName="thickLine" presStyleLbl="alignNode1" presStyleIdx="2" presStyleCnt="4"/>
      <dgm:spPr/>
    </dgm:pt>
    <dgm:pt modelId="{BEA27275-262B-41D7-806C-66726774F8BA}" type="pres">
      <dgm:prSet presAssocID="{7DD8119D-3473-4012-935E-6B79B6B52596}" presName="horz1" presStyleCnt="0"/>
      <dgm:spPr/>
    </dgm:pt>
    <dgm:pt modelId="{B730B9F1-471B-4EC6-B0C7-FB87AD4DE864}" type="pres">
      <dgm:prSet presAssocID="{7DD8119D-3473-4012-935E-6B79B6B52596}" presName="tx1" presStyleLbl="revTx" presStyleIdx="2" presStyleCnt="4"/>
      <dgm:spPr/>
    </dgm:pt>
    <dgm:pt modelId="{264504EA-621A-4FAB-93B9-395A71BAFD92}" type="pres">
      <dgm:prSet presAssocID="{7DD8119D-3473-4012-935E-6B79B6B52596}" presName="vert1" presStyleCnt="0"/>
      <dgm:spPr/>
    </dgm:pt>
    <dgm:pt modelId="{DF72EF2A-D1B7-472A-9C43-06F86B91761B}" type="pres">
      <dgm:prSet presAssocID="{65EA38B2-97E9-4378-B903-B2B2DB607B06}" presName="thickLine" presStyleLbl="alignNode1" presStyleIdx="3" presStyleCnt="4"/>
      <dgm:spPr/>
    </dgm:pt>
    <dgm:pt modelId="{074F1E76-417F-433F-8298-9C533A250BD6}" type="pres">
      <dgm:prSet presAssocID="{65EA38B2-97E9-4378-B903-B2B2DB607B06}" presName="horz1" presStyleCnt="0"/>
      <dgm:spPr/>
    </dgm:pt>
    <dgm:pt modelId="{611D848D-0650-4AF2-BCAA-F1D114C28B13}" type="pres">
      <dgm:prSet presAssocID="{65EA38B2-97E9-4378-B903-B2B2DB607B06}" presName="tx1" presStyleLbl="revTx" presStyleIdx="3" presStyleCnt="4"/>
      <dgm:spPr/>
    </dgm:pt>
    <dgm:pt modelId="{0F616382-A036-4C3B-A7D9-EC275E4FA026}" type="pres">
      <dgm:prSet presAssocID="{65EA38B2-97E9-4378-B903-B2B2DB607B06}" presName="vert1" presStyleCnt="0"/>
      <dgm:spPr/>
    </dgm:pt>
  </dgm:ptLst>
  <dgm:cxnLst>
    <dgm:cxn modelId="{47A35806-1547-46E0-ABED-B2F34D556A75}" srcId="{0D1A17E4-57F9-492C-9CD6-E9B369BE60F9}" destId="{EB9EA35F-9EA8-442A-80CD-A2CA80078A40}" srcOrd="0" destOrd="0" parTransId="{3AD3BF8C-5C86-423F-91CD-F16E74FDEF05}" sibTransId="{DA859E8C-7A8E-4306-A7FE-098984535227}"/>
    <dgm:cxn modelId="{B25B700D-CFD9-489B-9EED-8FC885ABD5B7}" srcId="{0D1A17E4-57F9-492C-9CD6-E9B369BE60F9}" destId="{65EA38B2-97E9-4378-B903-B2B2DB607B06}" srcOrd="3" destOrd="0" parTransId="{16629490-B327-4823-9083-1F486B4F6274}" sibTransId="{818815CA-1AB2-4FC0-B56A-0297F0EE9E24}"/>
    <dgm:cxn modelId="{8C88E428-5031-4C6B-A9EC-135EC9B52D32}" type="presOf" srcId="{7DD8119D-3473-4012-935E-6B79B6B52596}" destId="{B730B9F1-471B-4EC6-B0C7-FB87AD4DE864}" srcOrd="0" destOrd="0" presId="urn:microsoft.com/office/officeart/2008/layout/LinedList"/>
    <dgm:cxn modelId="{E0511A6D-E334-4E59-9FD5-97C5D6C0548E}" type="presOf" srcId="{65C9D412-B40E-4F9C-9563-3E093697CFA7}" destId="{5A492D11-438A-4D5F-8445-BF9CB56A388A}" srcOrd="0" destOrd="0" presId="urn:microsoft.com/office/officeart/2008/layout/LinedList"/>
    <dgm:cxn modelId="{3FF68B6F-9B2B-40F5-85FF-00C4064960FD}" srcId="{0D1A17E4-57F9-492C-9CD6-E9B369BE60F9}" destId="{65C9D412-B40E-4F9C-9563-3E093697CFA7}" srcOrd="1" destOrd="0" parTransId="{7C20CBDF-0D12-4945-A845-B0C9AA8B0C09}" sibTransId="{85D89F0C-69AE-411B-BACF-84B0E1D082C7}"/>
    <dgm:cxn modelId="{1E935B57-032E-4C8D-A018-945E969D98D9}" type="presOf" srcId="{65EA38B2-97E9-4378-B903-B2B2DB607B06}" destId="{611D848D-0650-4AF2-BCAA-F1D114C28B13}" srcOrd="0" destOrd="0" presId="urn:microsoft.com/office/officeart/2008/layout/LinedList"/>
    <dgm:cxn modelId="{547435A6-AD36-41F9-9390-A05E51BDEA61}" srcId="{0D1A17E4-57F9-492C-9CD6-E9B369BE60F9}" destId="{7DD8119D-3473-4012-935E-6B79B6B52596}" srcOrd="2" destOrd="0" parTransId="{7492BF4A-EA07-447E-9FCE-D93F2617D9FA}" sibTransId="{BD232E3F-4711-4C32-A1F2-1B67A41EAAB5}"/>
    <dgm:cxn modelId="{F4BBACE4-4635-43F6-8FE2-1157E9960EAA}" type="presOf" srcId="{0D1A17E4-57F9-492C-9CD6-E9B369BE60F9}" destId="{6ECB68C0-1580-4580-9C13-EEE207AF78A4}" srcOrd="0" destOrd="0" presId="urn:microsoft.com/office/officeart/2008/layout/LinedList"/>
    <dgm:cxn modelId="{4DDAA6F5-5791-47D9-B424-8969320DA406}" type="presOf" srcId="{EB9EA35F-9EA8-442A-80CD-A2CA80078A40}" destId="{BC3F1A9F-D225-437E-9762-6C7B2918C2EA}" srcOrd="0" destOrd="0" presId="urn:microsoft.com/office/officeart/2008/layout/LinedList"/>
    <dgm:cxn modelId="{EABD46FD-B223-41B6-A829-C7A1A8023ABF}" type="presParOf" srcId="{6ECB68C0-1580-4580-9C13-EEE207AF78A4}" destId="{2E352E92-EC8D-4827-86A6-A7618AEAF49A}" srcOrd="0" destOrd="0" presId="urn:microsoft.com/office/officeart/2008/layout/LinedList"/>
    <dgm:cxn modelId="{7A3B78F3-992C-4614-A50E-FF1BB89E9CB7}" type="presParOf" srcId="{6ECB68C0-1580-4580-9C13-EEE207AF78A4}" destId="{BB934E5D-E852-4325-862F-D46BA18DFA07}" srcOrd="1" destOrd="0" presId="urn:microsoft.com/office/officeart/2008/layout/LinedList"/>
    <dgm:cxn modelId="{16037609-29C4-4CCD-AB7C-23EFE8BAC544}" type="presParOf" srcId="{BB934E5D-E852-4325-862F-D46BA18DFA07}" destId="{BC3F1A9F-D225-437E-9762-6C7B2918C2EA}" srcOrd="0" destOrd="0" presId="urn:microsoft.com/office/officeart/2008/layout/LinedList"/>
    <dgm:cxn modelId="{9EA7B304-0A79-462B-A0E8-4788B74CA449}" type="presParOf" srcId="{BB934E5D-E852-4325-862F-D46BA18DFA07}" destId="{133168E0-E37B-4A9E-8EAE-063B1CF5FA3F}" srcOrd="1" destOrd="0" presId="urn:microsoft.com/office/officeart/2008/layout/LinedList"/>
    <dgm:cxn modelId="{E9F30F07-D48E-4DF2-84AB-AFC84A15FFB8}" type="presParOf" srcId="{6ECB68C0-1580-4580-9C13-EEE207AF78A4}" destId="{AC79377C-CCD4-4B59-8FCA-D5529267485E}" srcOrd="2" destOrd="0" presId="urn:microsoft.com/office/officeart/2008/layout/LinedList"/>
    <dgm:cxn modelId="{941D1E27-ECF6-45DF-8A4F-9798F9728E41}" type="presParOf" srcId="{6ECB68C0-1580-4580-9C13-EEE207AF78A4}" destId="{4592B40B-2FE2-4094-81BE-23444F36F488}" srcOrd="3" destOrd="0" presId="urn:microsoft.com/office/officeart/2008/layout/LinedList"/>
    <dgm:cxn modelId="{76996B51-32FA-447A-B7D4-A7087F610D33}" type="presParOf" srcId="{4592B40B-2FE2-4094-81BE-23444F36F488}" destId="{5A492D11-438A-4D5F-8445-BF9CB56A388A}" srcOrd="0" destOrd="0" presId="urn:microsoft.com/office/officeart/2008/layout/LinedList"/>
    <dgm:cxn modelId="{A82D5FB9-EB66-4B80-B914-D60BF239FF48}" type="presParOf" srcId="{4592B40B-2FE2-4094-81BE-23444F36F488}" destId="{74D834C1-178F-497D-82E8-A5914182C431}" srcOrd="1" destOrd="0" presId="urn:microsoft.com/office/officeart/2008/layout/LinedList"/>
    <dgm:cxn modelId="{71DC71C0-8036-418D-AD9D-F5CCD16A5B2C}" type="presParOf" srcId="{6ECB68C0-1580-4580-9C13-EEE207AF78A4}" destId="{1F588D5A-43BF-4215-9F9B-F9E16D453073}" srcOrd="4" destOrd="0" presId="urn:microsoft.com/office/officeart/2008/layout/LinedList"/>
    <dgm:cxn modelId="{D43F1203-BABA-4268-BF1E-314274E6B592}" type="presParOf" srcId="{6ECB68C0-1580-4580-9C13-EEE207AF78A4}" destId="{BEA27275-262B-41D7-806C-66726774F8BA}" srcOrd="5" destOrd="0" presId="urn:microsoft.com/office/officeart/2008/layout/LinedList"/>
    <dgm:cxn modelId="{DBEE8972-8118-41B1-B72D-4DE6865BB3B7}" type="presParOf" srcId="{BEA27275-262B-41D7-806C-66726774F8BA}" destId="{B730B9F1-471B-4EC6-B0C7-FB87AD4DE864}" srcOrd="0" destOrd="0" presId="urn:microsoft.com/office/officeart/2008/layout/LinedList"/>
    <dgm:cxn modelId="{0873706C-BD08-4F6A-8E58-EFA9C46C5CBF}" type="presParOf" srcId="{BEA27275-262B-41D7-806C-66726774F8BA}" destId="{264504EA-621A-4FAB-93B9-395A71BAFD92}" srcOrd="1" destOrd="0" presId="urn:microsoft.com/office/officeart/2008/layout/LinedList"/>
    <dgm:cxn modelId="{30D3429A-A4C0-447A-A3C9-9E2A013A4736}" type="presParOf" srcId="{6ECB68C0-1580-4580-9C13-EEE207AF78A4}" destId="{DF72EF2A-D1B7-472A-9C43-06F86B91761B}" srcOrd="6" destOrd="0" presId="urn:microsoft.com/office/officeart/2008/layout/LinedList"/>
    <dgm:cxn modelId="{4836EA48-F7FE-4DAF-903A-88A65129E2B5}" type="presParOf" srcId="{6ECB68C0-1580-4580-9C13-EEE207AF78A4}" destId="{074F1E76-417F-433F-8298-9C533A250BD6}" srcOrd="7" destOrd="0" presId="urn:microsoft.com/office/officeart/2008/layout/LinedList"/>
    <dgm:cxn modelId="{FEDCE411-BC8D-4CB2-B52E-A08B4D6DF7CC}" type="presParOf" srcId="{074F1E76-417F-433F-8298-9C533A250BD6}" destId="{611D848D-0650-4AF2-BCAA-F1D114C28B13}" srcOrd="0" destOrd="0" presId="urn:microsoft.com/office/officeart/2008/layout/LinedList"/>
    <dgm:cxn modelId="{F15C0060-546F-438E-A4AA-934E152D555D}" type="presParOf" srcId="{074F1E76-417F-433F-8298-9C533A250BD6}" destId="{0F616382-A036-4C3B-A7D9-EC275E4FA0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52E92-EC8D-4827-86A6-A7618AEAF49A}">
      <dsp:nvSpPr>
        <dsp:cNvPr id="0" name=""/>
        <dsp:cNvSpPr/>
      </dsp:nvSpPr>
      <dsp:spPr>
        <a:xfrm>
          <a:off x="0" y="0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F1A9F-D225-437E-9762-6C7B2918C2EA}">
      <dsp:nvSpPr>
        <dsp:cNvPr id="0" name=""/>
        <dsp:cNvSpPr/>
      </dsp:nvSpPr>
      <dsp:spPr>
        <a:xfrm>
          <a:off x="0" y="0"/>
          <a:ext cx="6305371" cy="10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Explica la diferencia entre: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 dirty="0"/>
            <a:t>	</a:t>
          </a:r>
          <a:r>
            <a:rPr lang="es-MX" sz="1900" i="1" kern="1200" dirty="0" err="1"/>
            <a:t>Console.WriteLine</a:t>
          </a:r>
          <a:r>
            <a:rPr lang="es-MX" sz="1900" i="1" kern="1200" dirty="0"/>
            <a:t>(</a:t>
          </a:r>
          <a:r>
            <a:rPr lang="es-MX" sz="1900" i="1" kern="1200" dirty="0" err="1"/>
            <a:t>texto.Substring</a:t>
          </a:r>
          <a:r>
            <a:rPr lang="es-MX" sz="1900" i="1" kern="1200" dirty="0"/>
            <a:t>(5));</a:t>
          </a:r>
          <a:endParaRPr lang="en-US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 dirty="0"/>
            <a:t>	</a:t>
          </a:r>
          <a:r>
            <a:rPr lang="es-MX" sz="1900" i="1" kern="1200" dirty="0" err="1"/>
            <a:t>Console.WriteLine</a:t>
          </a:r>
          <a:r>
            <a:rPr lang="es-MX" sz="1900" i="1" kern="1200" dirty="0"/>
            <a:t>(</a:t>
          </a:r>
          <a:r>
            <a:rPr lang="es-MX" sz="1900" i="1" kern="1200" dirty="0" err="1"/>
            <a:t>texto.Substring</a:t>
          </a:r>
          <a:r>
            <a:rPr lang="es-MX" sz="1900" i="1" kern="1200" dirty="0"/>
            <a:t>(5,5));</a:t>
          </a:r>
          <a:r>
            <a:rPr lang="es-MX" sz="1900" kern="1200" dirty="0"/>
            <a:t> </a:t>
          </a:r>
          <a:endParaRPr lang="en-US" sz="1900" kern="1200" dirty="0"/>
        </a:p>
      </dsp:txBody>
      <dsp:txXfrm>
        <a:off x="0" y="0"/>
        <a:ext cx="6305371" cy="1039313"/>
      </dsp:txXfrm>
    </dsp:sp>
    <dsp:sp modelId="{AC79377C-CCD4-4B59-8FCA-D5529267485E}">
      <dsp:nvSpPr>
        <dsp:cNvPr id="0" name=""/>
        <dsp:cNvSpPr/>
      </dsp:nvSpPr>
      <dsp:spPr>
        <a:xfrm>
          <a:off x="0" y="1039314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92D11-438A-4D5F-8445-BF9CB56A388A}">
      <dsp:nvSpPr>
        <dsp:cNvPr id="0" name=""/>
        <dsp:cNvSpPr/>
      </dsp:nvSpPr>
      <dsp:spPr>
        <a:xfrm>
          <a:off x="0" y="1039313"/>
          <a:ext cx="6305371" cy="10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Utilizando la palabra “Hola”, del </a:t>
          </a:r>
          <a:r>
            <a:rPr lang="es-MX" sz="1900" kern="1200" dirty="0" err="1"/>
            <a:t>string</a:t>
          </a:r>
          <a:r>
            <a:rPr lang="es-MX" sz="1900" kern="1200" dirty="0"/>
            <a:t> texto, escriba el código necesario para imprimir en pantalla la frase concatenada de “Hola a todos </a:t>
          </a:r>
          <a:r>
            <a:rPr lang="es-MX" sz="1900" kern="1200" dirty="0">
              <a:sym typeface="Wingdings" panose="05000000000000000000" pitchFamily="2" charset="2"/>
            </a:rPr>
            <a:t></a:t>
          </a:r>
          <a:r>
            <a:rPr lang="es-MX" sz="1900" kern="1200" dirty="0"/>
            <a:t>”</a:t>
          </a:r>
          <a:endParaRPr lang="en-US" sz="1900" kern="1200" dirty="0"/>
        </a:p>
      </dsp:txBody>
      <dsp:txXfrm>
        <a:off x="0" y="1039313"/>
        <a:ext cx="6305371" cy="1039313"/>
      </dsp:txXfrm>
    </dsp:sp>
    <dsp:sp modelId="{1F588D5A-43BF-4215-9F9B-F9E16D453073}">
      <dsp:nvSpPr>
        <dsp:cNvPr id="0" name=""/>
        <dsp:cNvSpPr/>
      </dsp:nvSpPr>
      <dsp:spPr>
        <a:xfrm>
          <a:off x="0" y="2078628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0B9F1-471B-4EC6-B0C7-FB87AD4DE864}">
      <dsp:nvSpPr>
        <dsp:cNvPr id="0" name=""/>
        <dsp:cNvSpPr/>
      </dsp:nvSpPr>
      <dsp:spPr>
        <a:xfrm>
          <a:off x="0" y="2078627"/>
          <a:ext cx="6305371" cy="10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Utilizando la palabra “Mundo”, del </a:t>
          </a:r>
          <a:r>
            <a:rPr lang="es-MX" sz="1900" kern="1200" dirty="0" err="1"/>
            <a:t>string</a:t>
          </a:r>
          <a:r>
            <a:rPr lang="es-MX" sz="1900" kern="1200" dirty="0"/>
            <a:t> texto, escriba el código necesario para imprimir en pantalla la frase concatenada de “Adiós mundo cruel </a:t>
          </a:r>
          <a:r>
            <a:rPr lang="es-MX" sz="1900" kern="1200" dirty="0">
              <a:sym typeface="Wingdings" panose="05000000000000000000" pitchFamily="2" charset="2"/>
            </a:rPr>
            <a:t></a:t>
          </a:r>
          <a:r>
            <a:rPr lang="es-MX" sz="1900" kern="1200" dirty="0"/>
            <a:t>”</a:t>
          </a:r>
          <a:endParaRPr lang="en-US" sz="1900" kern="1200" dirty="0"/>
        </a:p>
      </dsp:txBody>
      <dsp:txXfrm>
        <a:off x="0" y="2078627"/>
        <a:ext cx="6305371" cy="1039313"/>
      </dsp:txXfrm>
    </dsp:sp>
    <dsp:sp modelId="{DF72EF2A-D1B7-472A-9C43-06F86B91761B}">
      <dsp:nvSpPr>
        <dsp:cNvPr id="0" name=""/>
        <dsp:cNvSpPr/>
      </dsp:nvSpPr>
      <dsp:spPr>
        <a:xfrm>
          <a:off x="0" y="3117941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D848D-0650-4AF2-BCAA-F1D114C28B13}">
      <dsp:nvSpPr>
        <dsp:cNvPr id="0" name=""/>
        <dsp:cNvSpPr/>
      </dsp:nvSpPr>
      <dsp:spPr>
        <a:xfrm>
          <a:off x="0" y="3117941"/>
          <a:ext cx="6305371" cy="10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Utilizando un ciclo </a:t>
          </a:r>
          <a:r>
            <a:rPr lang="es-MX" sz="1900" kern="1200" dirty="0" err="1"/>
            <a:t>For</a:t>
          </a:r>
          <a:r>
            <a:rPr lang="es-MX" sz="1900" kern="1200" dirty="0"/>
            <a:t>, recorra todos los caracteres del </a:t>
          </a:r>
          <a:r>
            <a:rPr lang="es-MX" sz="1900" kern="1200" dirty="0" err="1"/>
            <a:t>string</a:t>
          </a:r>
          <a:r>
            <a:rPr lang="es-MX" sz="1900" kern="1200" dirty="0"/>
            <a:t> texto, y convierta solo las vocales a mayúsculas.</a:t>
          </a:r>
          <a:endParaRPr lang="en-US" sz="1900" kern="1200" dirty="0"/>
        </a:p>
      </dsp:txBody>
      <dsp:txXfrm>
        <a:off x="0" y="3117941"/>
        <a:ext cx="6305371" cy="1039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7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1"/>
            <a:ext cx="8689977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88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941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4"/>
            <a:ext cx="10351753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8"/>
            <a:ext cx="10351753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827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5106027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199" y="2367093"/>
            <a:ext cx="5105401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30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30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3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4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3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852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634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801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9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1"/>
            <a:ext cx="6200164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68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5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32853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81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804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762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7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7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1448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2138722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763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6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6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6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147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4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3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4"/>
            <a:ext cx="3303353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1"/>
            <a:ext cx="3303353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4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79"/>
            <a:ext cx="3305052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5666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2367094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4207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2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609602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957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6" y="2367094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6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6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809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11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B16EF4-B2EE-4C74-B840-F43FB0EB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Manejo de </a:t>
            </a:r>
            <a:r>
              <a:rPr lang="es-MX" dirty="0" err="1"/>
              <a:t>Strings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69870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58B38AB-DC21-48B1-891E-4DE1E3EF5A81}"/>
              </a:ext>
            </a:extLst>
          </p:cNvPr>
          <p:cNvSpPr/>
          <p:nvPr/>
        </p:nvSpPr>
        <p:spPr>
          <a:xfrm>
            <a:off x="1036823" y="396016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E2884B-3032-47A6-A8B4-74A784E78DB9}"/>
              </a:ext>
            </a:extLst>
          </p:cNvPr>
          <p:cNvSpPr/>
          <p:nvPr/>
        </p:nvSpPr>
        <p:spPr>
          <a:xfrm>
            <a:off x="1874434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441E23-1E03-476A-B651-15047B0C961D}"/>
              </a:ext>
            </a:extLst>
          </p:cNvPr>
          <p:cNvSpPr/>
          <p:nvPr/>
        </p:nvSpPr>
        <p:spPr>
          <a:xfrm>
            <a:off x="2712045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E5F5DA6-8C97-4252-8C5A-317E92A041ED}"/>
              </a:ext>
            </a:extLst>
          </p:cNvPr>
          <p:cNvSpPr/>
          <p:nvPr/>
        </p:nvSpPr>
        <p:spPr>
          <a:xfrm>
            <a:off x="3566537" y="39600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714DC67-77BE-477B-ADF3-04EFF3D3BC21}"/>
              </a:ext>
            </a:extLst>
          </p:cNvPr>
          <p:cNvSpPr/>
          <p:nvPr/>
        </p:nvSpPr>
        <p:spPr>
          <a:xfrm>
            <a:off x="4404148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88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467C843-0A94-466D-9AA3-5C394B046E3F}"/>
              </a:ext>
            </a:extLst>
          </p:cNvPr>
          <p:cNvSpPr/>
          <p:nvPr/>
        </p:nvSpPr>
        <p:spPr>
          <a:xfrm>
            <a:off x="5249000" y="396003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C0CAA3F-49DE-4A97-AC2D-A80D0BE6CCB0}"/>
              </a:ext>
            </a:extLst>
          </p:cNvPr>
          <p:cNvSpPr/>
          <p:nvPr/>
        </p:nvSpPr>
        <p:spPr>
          <a:xfrm>
            <a:off x="6103492" y="396002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u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1B43F16-2B2F-49C6-8F2F-D5C6F0FFE109}"/>
              </a:ext>
            </a:extLst>
          </p:cNvPr>
          <p:cNvSpPr/>
          <p:nvPr/>
        </p:nvSpPr>
        <p:spPr>
          <a:xfrm>
            <a:off x="6931465" y="396001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EFB635E-9FFB-497F-91AE-ED819C9D34D5}"/>
              </a:ext>
            </a:extLst>
          </p:cNvPr>
          <p:cNvSpPr/>
          <p:nvPr/>
        </p:nvSpPr>
        <p:spPr>
          <a:xfrm>
            <a:off x="7785955" y="39600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A5D1FC8-F25B-4C8F-8EE7-8BFBCBF1B905}"/>
              </a:ext>
            </a:extLst>
          </p:cNvPr>
          <p:cNvSpPr/>
          <p:nvPr/>
        </p:nvSpPr>
        <p:spPr>
          <a:xfrm>
            <a:off x="8623566" y="39599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B539491-C71A-4EE4-9B74-6627DF7FC99E}"/>
              </a:ext>
            </a:extLst>
          </p:cNvPr>
          <p:cNvSpPr/>
          <p:nvPr/>
        </p:nvSpPr>
        <p:spPr>
          <a:xfrm>
            <a:off x="9468418" y="39599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89DD89-CE87-4C93-8928-9163B51914BD}"/>
              </a:ext>
            </a:extLst>
          </p:cNvPr>
          <p:cNvSpPr/>
          <p:nvPr/>
        </p:nvSpPr>
        <p:spPr>
          <a:xfrm>
            <a:off x="10306029" y="395998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CC0007B-957C-4BC6-BEEF-4770E0EBEB89}"/>
              </a:ext>
            </a:extLst>
          </p:cNvPr>
          <p:cNvSpPr/>
          <p:nvPr/>
        </p:nvSpPr>
        <p:spPr>
          <a:xfrm>
            <a:off x="11160519" y="395997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E07D9D3-06C8-45EE-B2EA-91E04F189381}"/>
              </a:ext>
            </a:extLst>
          </p:cNvPr>
          <p:cNvSpPr/>
          <p:nvPr/>
        </p:nvSpPr>
        <p:spPr>
          <a:xfrm>
            <a:off x="1036823" y="1373381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D8701E4-D9D5-4996-8FB9-C2F17C45D158}"/>
              </a:ext>
            </a:extLst>
          </p:cNvPr>
          <p:cNvSpPr/>
          <p:nvPr/>
        </p:nvSpPr>
        <p:spPr>
          <a:xfrm>
            <a:off x="1874434" y="137337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E0C6EB9-E62A-4F64-8E25-D7279636571D}"/>
              </a:ext>
            </a:extLst>
          </p:cNvPr>
          <p:cNvSpPr/>
          <p:nvPr/>
        </p:nvSpPr>
        <p:spPr>
          <a:xfrm>
            <a:off x="2712045" y="137337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49BFC9-2351-4964-9A50-4F279FD5990D}"/>
              </a:ext>
            </a:extLst>
          </p:cNvPr>
          <p:cNvSpPr/>
          <p:nvPr/>
        </p:nvSpPr>
        <p:spPr>
          <a:xfrm>
            <a:off x="3566537" y="137337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BFC96A-DB21-471E-AD79-A7921A057B0B}"/>
              </a:ext>
            </a:extLst>
          </p:cNvPr>
          <p:cNvSpPr/>
          <p:nvPr/>
        </p:nvSpPr>
        <p:spPr>
          <a:xfrm>
            <a:off x="4404610" y="1373363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6EEE957-887E-4431-9EA3-B2A38282D0C6}"/>
              </a:ext>
            </a:extLst>
          </p:cNvPr>
          <p:cNvSpPr/>
          <p:nvPr/>
        </p:nvSpPr>
        <p:spPr>
          <a:xfrm>
            <a:off x="5249000" y="1373368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BA6633-E3FF-4C02-A545-6D30D0AE09B6}"/>
              </a:ext>
            </a:extLst>
          </p:cNvPr>
          <p:cNvSpPr/>
          <p:nvPr/>
        </p:nvSpPr>
        <p:spPr>
          <a:xfrm>
            <a:off x="6103492" y="1373367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6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D62FBC4-2D02-48DF-BF47-87216F9FB219}"/>
              </a:ext>
            </a:extLst>
          </p:cNvPr>
          <p:cNvSpPr/>
          <p:nvPr/>
        </p:nvSpPr>
        <p:spPr>
          <a:xfrm>
            <a:off x="6931465" y="1373366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7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97C2C2B-2611-4C70-A3CD-09CA90C6B512}"/>
              </a:ext>
            </a:extLst>
          </p:cNvPr>
          <p:cNvSpPr/>
          <p:nvPr/>
        </p:nvSpPr>
        <p:spPr>
          <a:xfrm>
            <a:off x="7785955" y="137336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8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C936715-300D-47C0-BBF5-0BDD856CCC0D}"/>
              </a:ext>
            </a:extLst>
          </p:cNvPr>
          <p:cNvSpPr/>
          <p:nvPr/>
        </p:nvSpPr>
        <p:spPr>
          <a:xfrm>
            <a:off x="8623566" y="137336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9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BBEDA81-7438-41C9-8B6E-EF971D679189}"/>
              </a:ext>
            </a:extLst>
          </p:cNvPr>
          <p:cNvSpPr/>
          <p:nvPr/>
        </p:nvSpPr>
        <p:spPr>
          <a:xfrm>
            <a:off x="9468418" y="137336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0BE9CB-B218-420C-AA1F-A653DFF39239}"/>
              </a:ext>
            </a:extLst>
          </p:cNvPr>
          <p:cNvSpPr/>
          <p:nvPr/>
        </p:nvSpPr>
        <p:spPr>
          <a:xfrm>
            <a:off x="10306029" y="1373363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891B3E3-2EF0-4985-8AE7-50900B1E1E0E}"/>
              </a:ext>
            </a:extLst>
          </p:cNvPr>
          <p:cNvSpPr/>
          <p:nvPr/>
        </p:nvSpPr>
        <p:spPr>
          <a:xfrm>
            <a:off x="11160519" y="1373362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12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61CB5D2-24E7-4C5F-9C0B-8F9B789B87DE}"/>
              </a:ext>
            </a:extLst>
          </p:cNvPr>
          <p:cNvSpPr/>
          <p:nvPr/>
        </p:nvSpPr>
        <p:spPr>
          <a:xfrm>
            <a:off x="195591" y="1368910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dirty="0"/>
              <a:t>Posición indexada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5DEDD1B-34D6-4311-8CDF-56417253DC9C}"/>
              </a:ext>
            </a:extLst>
          </p:cNvPr>
          <p:cNvSpPr txBox="1"/>
          <p:nvPr/>
        </p:nvSpPr>
        <p:spPr>
          <a:xfrm>
            <a:off x="1039834" y="2522930"/>
            <a:ext cx="101273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La </a:t>
            </a:r>
            <a:r>
              <a:rPr lang="es-MX" sz="3200" u="sng" dirty="0">
                <a:solidFill>
                  <a:srgbClr val="FF0000"/>
                </a:solidFill>
              </a:rPr>
              <a:t>posición indexada</a:t>
            </a:r>
            <a:r>
              <a:rPr lang="es-MX" sz="3200" dirty="0">
                <a:solidFill>
                  <a:srgbClr val="FF0000"/>
                </a:solidFill>
              </a:rPr>
              <a:t> </a:t>
            </a:r>
            <a:r>
              <a:rPr lang="es-MX" sz="3200" dirty="0"/>
              <a:t>es el número que ocupa en memoria alguna variable. En este caso cada carácter ocupa una posición indexada. La numeración indexada empieza en cero. Es por esto que el carácter </a:t>
            </a:r>
            <a:r>
              <a:rPr lang="es-MX" sz="3200" dirty="0">
                <a:solidFill>
                  <a:srgbClr val="FF0000"/>
                </a:solidFill>
              </a:rPr>
              <a:t>H</a:t>
            </a:r>
            <a:r>
              <a:rPr lang="es-MX" sz="3200" dirty="0"/>
              <a:t> ocupa la posición </a:t>
            </a:r>
            <a:r>
              <a:rPr lang="es-MX" sz="3200" dirty="0">
                <a:solidFill>
                  <a:srgbClr val="FF0000"/>
                </a:solidFill>
              </a:rPr>
              <a:t>0</a:t>
            </a:r>
            <a:r>
              <a:rPr lang="es-MX" sz="3200" dirty="0"/>
              <a:t>, el carácter </a:t>
            </a:r>
            <a:r>
              <a:rPr lang="es-MX" sz="3200" dirty="0">
                <a:solidFill>
                  <a:srgbClr val="FF0000"/>
                </a:solidFill>
              </a:rPr>
              <a:t>M</a:t>
            </a:r>
            <a:r>
              <a:rPr lang="es-MX" sz="3200" dirty="0"/>
              <a:t> la posición </a:t>
            </a:r>
            <a:r>
              <a:rPr lang="es-MX" sz="3200" dirty="0">
                <a:solidFill>
                  <a:srgbClr val="FF0000"/>
                </a:solidFill>
              </a:rPr>
              <a:t>5</a:t>
            </a:r>
            <a:r>
              <a:rPr lang="es-MX" sz="3200" dirty="0"/>
              <a:t>, y así cualquiera de los otros caracteres.</a:t>
            </a:r>
          </a:p>
        </p:txBody>
      </p:sp>
    </p:spTree>
    <p:extLst>
      <p:ext uri="{BB962C8B-B14F-4D97-AF65-F5344CB8AC3E}">
        <p14:creationId xmlns:p14="http://schemas.microsoft.com/office/powerpoint/2010/main" val="188154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58B38AB-DC21-48B1-891E-4DE1E3EF5A81}"/>
              </a:ext>
            </a:extLst>
          </p:cNvPr>
          <p:cNvSpPr/>
          <p:nvPr/>
        </p:nvSpPr>
        <p:spPr>
          <a:xfrm>
            <a:off x="1036823" y="396016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E2884B-3032-47A6-A8B4-74A784E78DB9}"/>
              </a:ext>
            </a:extLst>
          </p:cNvPr>
          <p:cNvSpPr/>
          <p:nvPr/>
        </p:nvSpPr>
        <p:spPr>
          <a:xfrm>
            <a:off x="1874434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441E23-1E03-476A-B651-15047B0C961D}"/>
              </a:ext>
            </a:extLst>
          </p:cNvPr>
          <p:cNvSpPr/>
          <p:nvPr/>
        </p:nvSpPr>
        <p:spPr>
          <a:xfrm>
            <a:off x="2712045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E5F5DA6-8C97-4252-8C5A-317E92A041ED}"/>
              </a:ext>
            </a:extLst>
          </p:cNvPr>
          <p:cNvSpPr/>
          <p:nvPr/>
        </p:nvSpPr>
        <p:spPr>
          <a:xfrm>
            <a:off x="3566537" y="39600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714DC67-77BE-477B-ADF3-04EFF3D3BC21}"/>
              </a:ext>
            </a:extLst>
          </p:cNvPr>
          <p:cNvSpPr/>
          <p:nvPr/>
        </p:nvSpPr>
        <p:spPr>
          <a:xfrm>
            <a:off x="4404148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88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467C843-0A94-466D-9AA3-5C394B046E3F}"/>
              </a:ext>
            </a:extLst>
          </p:cNvPr>
          <p:cNvSpPr/>
          <p:nvPr/>
        </p:nvSpPr>
        <p:spPr>
          <a:xfrm>
            <a:off x="5249000" y="396003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C0CAA3F-49DE-4A97-AC2D-A80D0BE6CCB0}"/>
              </a:ext>
            </a:extLst>
          </p:cNvPr>
          <p:cNvSpPr/>
          <p:nvPr/>
        </p:nvSpPr>
        <p:spPr>
          <a:xfrm>
            <a:off x="6103492" y="396002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u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1B43F16-2B2F-49C6-8F2F-D5C6F0FFE109}"/>
              </a:ext>
            </a:extLst>
          </p:cNvPr>
          <p:cNvSpPr/>
          <p:nvPr/>
        </p:nvSpPr>
        <p:spPr>
          <a:xfrm>
            <a:off x="6931465" y="396001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EFB635E-9FFB-497F-91AE-ED819C9D34D5}"/>
              </a:ext>
            </a:extLst>
          </p:cNvPr>
          <p:cNvSpPr/>
          <p:nvPr/>
        </p:nvSpPr>
        <p:spPr>
          <a:xfrm>
            <a:off x="7785955" y="39600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A5D1FC8-F25B-4C8F-8EE7-8BFBCBF1B905}"/>
              </a:ext>
            </a:extLst>
          </p:cNvPr>
          <p:cNvSpPr/>
          <p:nvPr/>
        </p:nvSpPr>
        <p:spPr>
          <a:xfrm>
            <a:off x="8623566" y="39599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B539491-C71A-4EE4-9B74-6627DF7FC99E}"/>
              </a:ext>
            </a:extLst>
          </p:cNvPr>
          <p:cNvSpPr/>
          <p:nvPr/>
        </p:nvSpPr>
        <p:spPr>
          <a:xfrm>
            <a:off x="9468418" y="39599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89DD89-CE87-4C93-8928-9163B51914BD}"/>
              </a:ext>
            </a:extLst>
          </p:cNvPr>
          <p:cNvSpPr/>
          <p:nvPr/>
        </p:nvSpPr>
        <p:spPr>
          <a:xfrm>
            <a:off x="10306029" y="395998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CC0007B-957C-4BC6-BEEF-4770E0EBEB89}"/>
              </a:ext>
            </a:extLst>
          </p:cNvPr>
          <p:cNvSpPr/>
          <p:nvPr/>
        </p:nvSpPr>
        <p:spPr>
          <a:xfrm>
            <a:off x="11160519" y="395997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E07D9D3-06C8-45EE-B2EA-91E04F189381}"/>
              </a:ext>
            </a:extLst>
          </p:cNvPr>
          <p:cNvSpPr/>
          <p:nvPr/>
        </p:nvSpPr>
        <p:spPr>
          <a:xfrm>
            <a:off x="1036823" y="1373381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D8701E4-D9D5-4996-8FB9-C2F17C45D158}"/>
              </a:ext>
            </a:extLst>
          </p:cNvPr>
          <p:cNvSpPr/>
          <p:nvPr/>
        </p:nvSpPr>
        <p:spPr>
          <a:xfrm>
            <a:off x="1874434" y="137337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E0C6EB9-E62A-4F64-8E25-D7279636571D}"/>
              </a:ext>
            </a:extLst>
          </p:cNvPr>
          <p:cNvSpPr/>
          <p:nvPr/>
        </p:nvSpPr>
        <p:spPr>
          <a:xfrm>
            <a:off x="2712045" y="137337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49BFC9-2351-4964-9A50-4F279FD5990D}"/>
              </a:ext>
            </a:extLst>
          </p:cNvPr>
          <p:cNvSpPr/>
          <p:nvPr/>
        </p:nvSpPr>
        <p:spPr>
          <a:xfrm>
            <a:off x="3566537" y="137337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BFC96A-DB21-471E-AD79-A7921A057B0B}"/>
              </a:ext>
            </a:extLst>
          </p:cNvPr>
          <p:cNvSpPr/>
          <p:nvPr/>
        </p:nvSpPr>
        <p:spPr>
          <a:xfrm>
            <a:off x="4404610" y="1373363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6EEE957-887E-4431-9EA3-B2A38282D0C6}"/>
              </a:ext>
            </a:extLst>
          </p:cNvPr>
          <p:cNvSpPr/>
          <p:nvPr/>
        </p:nvSpPr>
        <p:spPr>
          <a:xfrm>
            <a:off x="5249000" y="1373368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BA6633-E3FF-4C02-A545-6D30D0AE09B6}"/>
              </a:ext>
            </a:extLst>
          </p:cNvPr>
          <p:cNvSpPr/>
          <p:nvPr/>
        </p:nvSpPr>
        <p:spPr>
          <a:xfrm>
            <a:off x="6103492" y="1373367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6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D62FBC4-2D02-48DF-BF47-87216F9FB219}"/>
              </a:ext>
            </a:extLst>
          </p:cNvPr>
          <p:cNvSpPr/>
          <p:nvPr/>
        </p:nvSpPr>
        <p:spPr>
          <a:xfrm>
            <a:off x="6931465" y="1373366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7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97C2C2B-2611-4C70-A3CD-09CA90C6B512}"/>
              </a:ext>
            </a:extLst>
          </p:cNvPr>
          <p:cNvSpPr/>
          <p:nvPr/>
        </p:nvSpPr>
        <p:spPr>
          <a:xfrm>
            <a:off x="7785955" y="137336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8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C936715-300D-47C0-BBF5-0BDD856CCC0D}"/>
              </a:ext>
            </a:extLst>
          </p:cNvPr>
          <p:cNvSpPr/>
          <p:nvPr/>
        </p:nvSpPr>
        <p:spPr>
          <a:xfrm>
            <a:off x="8623566" y="137336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9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BBEDA81-7438-41C9-8B6E-EF971D679189}"/>
              </a:ext>
            </a:extLst>
          </p:cNvPr>
          <p:cNvSpPr/>
          <p:nvPr/>
        </p:nvSpPr>
        <p:spPr>
          <a:xfrm>
            <a:off x="9468418" y="137336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0BE9CB-B218-420C-AA1F-A653DFF39239}"/>
              </a:ext>
            </a:extLst>
          </p:cNvPr>
          <p:cNvSpPr/>
          <p:nvPr/>
        </p:nvSpPr>
        <p:spPr>
          <a:xfrm>
            <a:off x="10306029" y="1373363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891B3E3-2EF0-4985-8AE7-50900B1E1E0E}"/>
              </a:ext>
            </a:extLst>
          </p:cNvPr>
          <p:cNvSpPr/>
          <p:nvPr/>
        </p:nvSpPr>
        <p:spPr>
          <a:xfrm>
            <a:off x="11160519" y="1373362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12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61CB5D2-24E7-4C5F-9C0B-8F9B789B87DE}"/>
              </a:ext>
            </a:extLst>
          </p:cNvPr>
          <p:cNvSpPr/>
          <p:nvPr/>
        </p:nvSpPr>
        <p:spPr>
          <a:xfrm>
            <a:off x="195591" y="1368910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dirty="0"/>
              <a:t>Posición indexada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5DEDD1B-34D6-4311-8CDF-56417253DC9C}"/>
              </a:ext>
            </a:extLst>
          </p:cNvPr>
          <p:cNvSpPr txBox="1"/>
          <p:nvPr/>
        </p:nvSpPr>
        <p:spPr>
          <a:xfrm>
            <a:off x="1033203" y="2480312"/>
            <a:ext cx="101273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El método </a:t>
            </a:r>
            <a:r>
              <a:rPr lang="es-MX" sz="3200" u="sng" dirty="0" err="1">
                <a:solidFill>
                  <a:srgbClr val="FF0000"/>
                </a:solidFill>
              </a:rPr>
              <a:t>ToLower</a:t>
            </a:r>
            <a:r>
              <a:rPr lang="es-MX" sz="3200" u="sng" dirty="0">
                <a:solidFill>
                  <a:srgbClr val="FF0000"/>
                </a:solidFill>
              </a:rPr>
              <a:t>()</a:t>
            </a:r>
            <a:r>
              <a:rPr lang="es-MX" sz="3200" dirty="0">
                <a:solidFill>
                  <a:srgbClr val="FF0000"/>
                </a:solidFill>
              </a:rPr>
              <a:t> </a:t>
            </a:r>
          </a:p>
          <a:p>
            <a:pPr algn="just"/>
            <a:endParaRPr lang="es-MX" sz="3200" dirty="0">
              <a:solidFill>
                <a:srgbClr val="FF0000"/>
              </a:solidFill>
            </a:endParaRPr>
          </a:p>
          <a:p>
            <a:pPr algn="just"/>
            <a:r>
              <a:rPr lang="es-MX" sz="3200" dirty="0"/>
              <a:t>Modifica el </a:t>
            </a:r>
            <a:r>
              <a:rPr lang="es-MX" sz="3200" dirty="0" err="1"/>
              <a:t>string</a:t>
            </a:r>
            <a:r>
              <a:rPr lang="es-MX" sz="3200" dirty="0"/>
              <a:t> a todo minúsculas.</a:t>
            </a:r>
          </a:p>
          <a:p>
            <a:pPr algn="just"/>
            <a:endParaRPr lang="es-MX" sz="3200" dirty="0"/>
          </a:p>
          <a:p>
            <a:pPr algn="just"/>
            <a:r>
              <a:rPr lang="es-MX" sz="3200" dirty="0"/>
              <a:t>		</a:t>
            </a:r>
            <a:r>
              <a:rPr lang="es-MX" sz="2800" i="1" dirty="0" err="1"/>
              <a:t>String</a:t>
            </a:r>
            <a:r>
              <a:rPr lang="es-MX" sz="2800" i="1" dirty="0"/>
              <a:t> texto = “Hola Mundo!!!”;</a:t>
            </a:r>
          </a:p>
          <a:p>
            <a:pPr algn="just"/>
            <a:r>
              <a:rPr lang="es-MX" sz="2800" i="1" dirty="0"/>
              <a:t>		</a:t>
            </a:r>
            <a:r>
              <a:rPr lang="es-MX" sz="2800" i="1" dirty="0" err="1"/>
              <a:t>Console.WriteLine</a:t>
            </a:r>
            <a:r>
              <a:rPr lang="es-MX" sz="2800" i="1" dirty="0"/>
              <a:t>(</a:t>
            </a:r>
            <a:r>
              <a:rPr lang="es-MX" sz="2800" i="1" dirty="0" err="1"/>
              <a:t>texto.ToLower</a:t>
            </a:r>
            <a:r>
              <a:rPr lang="es-MX" sz="2800" i="1" dirty="0"/>
              <a:t>());</a:t>
            </a:r>
          </a:p>
          <a:p>
            <a:pPr algn="just"/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2530637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58B38AB-DC21-48B1-891E-4DE1E3EF5A81}"/>
              </a:ext>
            </a:extLst>
          </p:cNvPr>
          <p:cNvSpPr/>
          <p:nvPr/>
        </p:nvSpPr>
        <p:spPr>
          <a:xfrm>
            <a:off x="1036823" y="396016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E2884B-3032-47A6-A8B4-74A784E78DB9}"/>
              </a:ext>
            </a:extLst>
          </p:cNvPr>
          <p:cNvSpPr/>
          <p:nvPr/>
        </p:nvSpPr>
        <p:spPr>
          <a:xfrm>
            <a:off x="1874434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441E23-1E03-476A-B651-15047B0C961D}"/>
              </a:ext>
            </a:extLst>
          </p:cNvPr>
          <p:cNvSpPr/>
          <p:nvPr/>
        </p:nvSpPr>
        <p:spPr>
          <a:xfrm>
            <a:off x="2712045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E5F5DA6-8C97-4252-8C5A-317E92A041ED}"/>
              </a:ext>
            </a:extLst>
          </p:cNvPr>
          <p:cNvSpPr/>
          <p:nvPr/>
        </p:nvSpPr>
        <p:spPr>
          <a:xfrm>
            <a:off x="3566537" y="39600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714DC67-77BE-477B-ADF3-04EFF3D3BC21}"/>
              </a:ext>
            </a:extLst>
          </p:cNvPr>
          <p:cNvSpPr/>
          <p:nvPr/>
        </p:nvSpPr>
        <p:spPr>
          <a:xfrm>
            <a:off x="4404148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88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467C843-0A94-466D-9AA3-5C394B046E3F}"/>
              </a:ext>
            </a:extLst>
          </p:cNvPr>
          <p:cNvSpPr/>
          <p:nvPr/>
        </p:nvSpPr>
        <p:spPr>
          <a:xfrm>
            <a:off x="5249000" y="396003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C0CAA3F-49DE-4A97-AC2D-A80D0BE6CCB0}"/>
              </a:ext>
            </a:extLst>
          </p:cNvPr>
          <p:cNvSpPr/>
          <p:nvPr/>
        </p:nvSpPr>
        <p:spPr>
          <a:xfrm>
            <a:off x="6103492" y="396002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u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1B43F16-2B2F-49C6-8F2F-D5C6F0FFE109}"/>
              </a:ext>
            </a:extLst>
          </p:cNvPr>
          <p:cNvSpPr/>
          <p:nvPr/>
        </p:nvSpPr>
        <p:spPr>
          <a:xfrm>
            <a:off x="6931465" y="396001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EFB635E-9FFB-497F-91AE-ED819C9D34D5}"/>
              </a:ext>
            </a:extLst>
          </p:cNvPr>
          <p:cNvSpPr/>
          <p:nvPr/>
        </p:nvSpPr>
        <p:spPr>
          <a:xfrm>
            <a:off x="7785955" y="39600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A5D1FC8-F25B-4C8F-8EE7-8BFBCBF1B905}"/>
              </a:ext>
            </a:extLst>
          </p:cNvPr>
          <p:cNvSpPr/>
          <p:nvPr/>
        </p:nvSpPr>
        <p:spPr>
          <a:xfrm>
            <a:off x="8623566" y="39599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B539491-C71A-4EE4-9B74-6627DF7FC99E}"/>
              </a:ext>
            </a:extLst>
          </p:cNvPr>
          <p:cNvSpPr/>
          <p:nvPr/>
        </p:nvSpPr>
        <p:spPr>
          <a:xfrm>
            <a:off x="9468418" y="39599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89DD89-CE87-4C93-8928-9163B51914BD}"/>
              </a:ext>
            </a:extLst>
          </p:cNvPr>
          <p:cNvSpPr/>
          <p:nvPr/>
        </p:nvSpPr>
        <p:spPr>
          <a:xfrm>
            <a:off x="10306029" y="395998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CC0007B-957C-4BC6-BEEF-4770E0EBEB89}"/>
              </a:ext>
            </a:extLst>
          </p:cNvPr>
          <p:cNvSpPr/>
          <p:nvPr/>
        </p:nvSpPr>
        <p:spPr>
          <a:xfrm>
            <a:off x="11160519" y="395997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E07D9D3-06C8-45EE-B2EA-91E04F189381}"/>
              </a:ext>
            </a:extLst>
          </p:cNvPr>
          <p:cNvSpPr/>
          <p:nvPr/>
        </p:nvSpPr>
        <p:spPr>
          <a:xfrm>
            <a:off x="1036823" y="1373381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D8701E4-D9D5-4996-8FB9-C2F17C45D158}"/>
              </a:ext>
            </a:extLst>
          </p:cNvPr>
          <p:cNvSpPr/>
          <p:nvPr/>
        </p:nvSpPr>
        <p:spPr>
          <a:xfrm>
            <a:off x="1874434" y="137337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E0C6EB9-E62A-4F64-8E25-D7279636571D}"/>
              </a:ext>
            </a:extLst>
          </p:cNvPr>
          <p:cNvSpPr/>
          <p:nvPr/>
        </p:nvSpPr>
        <p:spPr>
          <a:xfrm>
            <a:off x="2712045" y="137337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49BFC9-2351-4964-9A50-4F279FD5990D}"/>
              </a:ext>
            </a:extLst>
          </p:cNvPr>
          <p:cNvSpPr/>
          <p:nvPr/>
        </p:nvSpPr>
        <p:spPr>
          <a:xfrm>
            <a:off x="3566537" y="137337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BFC96A-DB21-471E-AD79-A7921A057B0B}"/>
              </a:ext>
            </a:extLst>
          </p:cNvPr>
          <p:cNvSpPr/>
          <p:nvPr/>
        </p:nvSpPr>
        <p:spPr>
          <a:xfrm>
            <a:off x="4404610" y="1373363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6EEE957-887E-4431-9EA3-B2A38282D0C6}"/>
              </a:ext>
            </a:extLst>
          </p:cNvPr>
          <p:cNvSpPr/>
          <p:nvPr/>
        </p:nvSpPr>
        <p:spPr>
          <a:xfrm>
            <a:off x="5249000" y="1373368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BA6633-E3FF-4C02-A545-6D30D0AE09B6}"/>
              </a:ext>
            </a:extLst>
          </p:cNvPr>
          <p:cNvSpPr/>
          <p:nvPr/>
        </p:nvSpPr>
        <p:spPr>
          <a:xfrm>
            <a:off x="6103492" y="1373367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6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D62FBC4-2D02-48DF-BF47-87216F9FB219}"/>
              </a:ext>
            </a:extLst>
          </p:cNvPr>
          <p:cNvSpPr/>
          <p:nvPr/>
        </p:nvSpPr>
        <p:spPr>
          <a:xfrm>
            <a:off x="6931465" y="1373366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7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97C2C2B-2611-4C70-A3CD-09CA90C6B512}"/>
              </a:ext>
            </a:extLst>
          </p:cNvPr>
          <p:cNvSpPr/>
          <p:nvPr/>
        </p:nvSpPr>
        <p:spPr>
          <a:xfrm>
            <a:off x="7785955" y="137336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8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C936715-300D-47C0-BBF5-0BDD856CCC0D}"/>
              </a:ext>
            </a:extLst>
          </p:cNvPr>
          <p:cNvSpPr/>
          <p:nvPr/>
        </p:nvSpPr>
        <p:spPr>
          <a:xfrm>
            <a:off x="8623566" y="137336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9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BBEDA81-7438-41C9-8B6E-EF971D679189}"/>
              </a:ext>
            </a:extLst>
          </p:cNvPr>
          <p:cNvSpPr/>
          <p:nvPr/>
        </p:nvSpPr>
        <p:spPr>
          <a:xfrm>
            <a:off x="9468418" y="137336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0BE9CB-B218-420C-AA1F-A653DFF39239}"/>
              </a:ext>
            </a:extLst>
          </p:cNvPr>
          <p:cNvSpPr/>
          <p:nvPr/>
        </p:nvSpPr>
        <p:spPr>
          <a:xfrm>
            <a:off x="10306029" y="1373363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891B3E3-2EF0-4985-8AE7-50900B1E1E0E}"/>
              </a:ext>
            </a:extLst>
          </p:cNvPr>
          <p:cNvSpPr/>
          <p:nvPr/>
        </p:nvSpPr>
        <p:spPr>
          <a:xfrm>
            <a:off x="11160519" y="1373362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12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61CB5D2-24E7-4C5F-9C0B-8F9B789B87DE}"/>
              </a:ext>
            </a:extLst>
          </p:cNvPr>
          <p:cNvSpPr/>
          <p:nvPr/>
        </p:nvSpPr>
        <p:spPr>
          <a:xfrm>
            <a:off x="195591" y="1368910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dirty="0"/>
              <a:t>Posición indexada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5DEDD1B-34D6-4311-8CDF-56417253DC9C}"/>
              </a:ext>
            </a:extLst>
          </p:cNvPr>
          <p:cNvSpPr txBox="1"/>
          <p:nvPr/>
        </p:nvSpPr>
        <p:spPr>
          <a:xfrm>
            <a:off x="1033203" y="2480312"/>
            <a:ext cx="101273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El método </a:t>
            </a:r>
            <a:r>
              <a:rPr lang="es-MX" sz="3200" u="sng" dirty="0" err="1">
                <a:solidFill>
                  <a:srgbClr val="FF0000"/>
                </a:solidFill>
              </a:rPr>
              <a:t>ToUpper</a:t>
            </a:r>
            <a:r>
              <a:rPr lang="es-MX" sz="3200" u="sng" dirty="0">
                <a:solidFill>
                  <a:srgbClr val="FF0000"/>
                </a:solidFill>
              </a:rPr>
              <a:t>()</a:t>
            </a:r>
            <a:r>
              <a:rPr lang="es-MX" sz="3200" dirty="0">
                <a:solidFill>
                  <a:srgbClr val="FF0000"/>
                </a:solidFill>
              </a:rPr>
              <a:t> </a:t>
            </a:r>
          </a:p>
          <a:p>
            <a:pPr algn="just"/>
            <a:endParaRPr lang="es-MX" sz="3200" dirty="0">
              <a:solidFill>
                <a:srgbClr val="FF0000"/>
              </a:solidFill>
            </a:endParaRPr>
          </a:p>
          <a:p>
            <a:pPr algn="just"/>
            <a:r>
              <a:rPr lang="es-MX" sz="3200" dirty="0"/>
              <a:t>Modifica el </a:t>
            </a:r>
            <a:r>
              <a:rPr lang="es-MX" sz="3200" dirty="0" err="1"/>
              <a:t>string</a:t>
            </a:r>
            <a:r>
              <a:rPr lang="es-MX" sz="3200" dirty="0"/>
              <a:t> a todo MAYÚSCULAS.</a:t>
            </a:r>
          </a:p>
          <a:p>
            <a:pPr algn="just"/>
            <a:endParaRPr lang="es-MX" sz="3200" dirty="0"/>
          </a:p>
          <a:p>
            <a:pPr algn="just"/>
            <a:r>
              <a:rPr lang="es-MX" sz="3200" dirty="0"/>
              <a:t>		</a:t>
            </a:r>
            <a:r>
              <a:rPr lang="es-MX" sz="2800" i="1" dirty="0" err="1"/>
              <a:t>String</a:t>
            </a:r>
            <a:r>
              <a:rPr lang="es-MX" sz="2800" i="1" dirty="0"/>
              <a:t> texto = “Hola Mundo!!!”;</a:t>
            </a:r>
          </a:p>
          <a:p>
            <a:pPr algn="just"/>
            <a:r>
              <a:rPr lang="es-MX" sz="2800" i="1" dirty="0"/>
              <a:t>		</a:t>
            </a:r>
            <a:r>
              <a:rPr lang="es-MX" sz="2800" i="1" dirty="0" err="1"/>
              <a:t>Console.WriteLine</a:t>
            </a:r>
            <a:r>
              <a:rPr lang="es-MX" sz="2800" i="1" dirty="0"/>
              <a:t>(</a:t>
            </a:r>
            <a:r>
              <a:rPr lang="es-MX" sz="2800" i="1" dirty="0" err="1"/>
              <a:t>texto.ToUpper</a:t>
            </a:r>
            <a:r>
              <a:rPr lang="es-MX" sz="2800" i="1" dirty="0"/>
              <a:t>());</a:t>
            </a:r>
          </a:p>
          <a:p>
            <a:pPr algn="just"/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252148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58B38AB-DC21-48B1-891E-4DE1E3EF5A81}"/>
              </a:ext>
            </a:extLst>
          </p:cNvPr>
          <p:cNvSpPr/>
          <p:nvPr/>
        </p:nvSpPr>
        <p:spPr>
          <a:xfrm>
            <a:off x="1036823" y="396016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E2884B-3032-47A6-A8B4-74A784E78DB9}"/>
              </a:ext>
            </a:extLst>
          </p:cNvPr>
          <p:cNvSpPr/>
          <p:nvPr/>
        </p:nvSpPr>
        <p:spPr>
          <a:xfrm>
            <a:off x="1874434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441E23-1E03-476A-B651-15047B0C961D}"/>
              </a:ext>
            </a:extLst>
          </p:cNvPr>
          <p:cNvSpPr/>
          <p:nvPr/>
        </p:nvSpPr>
        <p:spPr>
          <a:xfrm>
            <a:off x="2712045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E5F5DA6-8C97-4252-8C5A-317E92A041ED}"/>
              </a:ext>
            </a:extLst>
          </p:cNvPr>
          <p:cNvSpPr/>
          <p:nvPr/>
        </p:nvSpPr>
        <p:spPr>
          <a:xfrm>
            <a:off x="3566537" y="39600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714DC67-77BE-477B-ADF3-04EFF3D3BC21}"/>
              </a:ext>
            </a:extLst>
          </p:cNvPr>
          <p:cNvSpPr/>
          <p:nvPr/>
        </p:nvSpPr>
        <p:spPr>
          <a:xfrm>
            <a:off x="4404148" y="39601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88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467C843-0A94-466D-9AA3-5C394B046E3F}"/>
              </a:ext>
            </a:extLst>
          </p:cNvPr>
          <p:cNvSpPr/>
          <p:nvPr/>
        </p:nvSpPr>
        <p:spPr>
          <a:xfrm>
            <a:off x="5249000" y="396003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C0CAA3F-49DE-4A97-AC2D-A80D0BE6CCB0}"/>
              </a:ext>
            </a:extLst>
          </p:cNvPr>
          <p:cNvSpPr/>
          <p:nvPr/>
        </p:nvSpPr>
        <p:spPr>
          <a:xfrm>
            <a:off x="6103492" y="396002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u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1B43F16-2B2F-49C6-8F2F-D5C6F0FFE109}"/>
              </a:ext>
            </a:extLst>
          </p:cNvPr>
          <p:cNvSpPr/>
          <p:nvPr/>
        </p:nvSpPr>
        <p:spPr>
          <a:xfrm>
            <a:off x="6931465" y="396001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EFB635E-9FFB-497F-91AE-ED819C9D34D5}"/>
              </a:ext>
            </a:extLst>
          </p:cNvPr>
          <p:cNvSpPr/>
          <p:nvPr/>
        </p:nvSpPr>
        <p:spPr>
          <a:xfrm>
            <a:off x="7785955" y="396000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A5D1FC8-F25B-4C8F-8EE7-8BFBCBF1B905}"/>
              </a:ext>
            </a:extLst>
          </p:cNvPr>
          <p:cNvSpPr/>
          <p:nvPr/>
        </p:nvSpPr>
        <p:spPr>
          <a:xfrm>
            <a:off x="8623566" y="39599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B539491-C71A-4EE4-9B74-6627DF7FC99E}"/>
              </a:ext>
            </a:extLst>
          </p:cNvPr>
          <p:cNvSpPr/>
          <p:nvPr/>
        </p:nvSpPr>
        <p:spPr>
          <a:xfrm>
            <a:off x="9468418" y="395999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89DD89-CE87-4C93-8928-9163B51914BD}"/>
              </a:ext>
            </a:extLst>
          </p:cNvPr>
          <p:cNvSpPr/>
          <p:nvPr/>
        </p:nvSpPr>
        <p:spPr>
          <a:xfrm>
            <a:off x="10306029" y="395998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CC0007B-957C-4BC6-BEEF-4770E0EBEB89}"/>
              </a:ext>
            </a:extLst>
          </p:cNvPr>
          <p:cNvSpPr/>
          <p:nvPr/>
        </p:nvSpPr>
        <p:spPr>
          <a:xfrm>
            <a:off x="11160519" y="395997"/>
            <a:ext cx="837611" cy="972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800" dirty="0"/>
              <a:t>!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E07D9D3-06C8-45EE-B2EA-91E04F189381}"/>
              </a:ext>
            </a:extLst>
          </p:cNvPr>
          <p:cNvSpPr/>
          <p:nvPr/>
        </p:nvSpPr>
        <p:spPr>
          <a:xfrm>
            <a:off x="1036823" y="1373381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D8701E4-D9D5-4996-8FB9-C2F17C45D158}"/>
              </a:ext>
            </a:extLst>
          </p:cNvPr>
          <p:cNvSpPr/>
          <p:nvPr/>
        </p:nvSpPr>
        <p:spPr>
          <a:xfrm>
            <a:off x="1874434" y="137337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E0C6EB9-E62A-4F64-8E25-D7279636571D}"/>
              </a:ext>
            </a:extLst>
          </p:cNvPr>
          <p:cNvSpPr/>
          <p:nvPr/>
        </p:nvSpPr>
        <p:spPr>
          <a:xfrm>
            <a:off x="2712045" y="137337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49BFC9-2351-4964-9A50-4F279FD5990D}"/>
              </a:ext>
            </a:extLst>
          </p:cNvPr>
          <p:cNvSpPr/>
          <p:nvPr/>
        </p:nvSpPr>
        <p:spPr>
          <a:xfrm>
            <a:off x="3566537" y="137337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BFC96A-DB21-471E-AD79-A7921A057B0B}"/>
              </a:ext>
            </a:extLst>
          </p:cNvPr>
          <p:cNvSpPr/>
          <p:nvPr/>
        </p:nvSpPr>
        <p:spPr>
          <a:xfrm>
            <a:off x="4404610" y="1373363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6EEE957-887E-4431-9EA3-B2A38282D0C6}"/>
              </a:ext>
            </a:extLst>
          </p:cNvPr>
          <p:cNvSpPr/>
          <p:nvPr/>
        </p:nvSpPr>
        <p:spPr>
          <a:xfrm>
            <a:off x="5249000" y="1373368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BA6633-E3FF-4C02-A545-6D30D0AE09B6}"/>
              </a:ext>
            </a:extLst>
          </p:cNvPr>
          <p:cNvSpPr/>
          <p:nvPr/>
        </p:nvSpPr>
        <p:spPr>
          <a:xfrm>
            <a:off x="6103492" y="1373367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6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D62FBC4-2D02-48DF-BF47-87216F9FB219}"/>
              </a:ext>
            </a:extLst>
          </p:cNvPr>
          <p:cNvSpPr/>
          <p:nvPr/>
        </p:nvSpPr>
        <p:spPr>
          <a:xfrm>
            <a:off x="6931465" y="1373366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7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97C2C2B-2611-4C70-A3CD-09CA90C6B512}"/>
              </a:ext>
            </a:extLst>
          </p:cNvPr>
          <p:cNvSpPr/>
          <p:nvPr/>
        </p:nvSpPr>
        <p:spPr>
          <a:xfrm>
            <a:off x="7785955" y="1373365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8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C936715-300D-47C0-BBF5-0BDD856CCC0D}"/>
              </a:ext>
            </a:extLst>
          </p:cNvPr>
          <p:cNvSpPr/>
          <p:nvPr/>
        </p:nvSpPr>
        <p:spPr>
          <a:xfrm>
            <a:off x="8623566" y="137336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9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BBEDA81-7438-41C9-8B6E-EF971D679189}"/>
              </a:ext>
            </a:extLst>
          </p:cNvPr>
          <p:cNvSpPr/>
          <p:nvPr/>
        </p:nvSpPr>
        <p:spPr>
          <a:xfrm>
            <a:off x="9468418" y="1373364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0BE9CB-B218-420C-AA1F-A653DFF39239}"/>
              </a:ext>
            </a:extLst>
          </p:cNvPr>
          <p:cNvSpPr/>
          <p:nvPr/>
        </p:nvSpPr>
        <p:spPr>
          <a:xfrm>
            <a:off x="10306029" y="1373363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891B3E3-2EF0-4985-8AE7-50900B1E1E0E}"/>
              </a:ext>
            </a:extLst>
          </p:cNvPr>
          <p:cNvSpPr/>
          <p:nvPr/>
        </p:nvSpPr>
        <p:spPr>
          <a:xfrm>
            <a:off x="11160519" y="1373362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sz="6000" dirty="0"/>
              <a:t>12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61CB5D2-24E7-4C5F-9C0B-8F9B789B87DE}"/>
              </a:ext>
            </a:extLst>
          </p:cNvPr>
          <p:cNvSpPr/>
          <p:nvPr/>
        </p:nvSpPr>
        <p:spPr>
          <a:xfrm>
            <a:off x="195591" y="1368910"/>
            <a:ext cx="837611" cy="9729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MX" dirty="0"/>
              <a:t>Posición indexada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5DEDD1B-34D6-4311-8CDF-56417253DC9C}"/>
              </a:ext>
            </a:extLst>
          </p:cNvPr>
          <p:cNvSpPr txBox="1"/>
          <p:nvPr/>
        </p:nvSpPr>
        <p:spPr>
          <a:xfrm>
            <a:off x="1033203" y="2480312"/>
            <a:ext cx="1045821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El método </a:t>
            </a:r>
            <a:r>
              <a:rPr lang="es-MX" sz="3200" u="sng" dirty="0" err="1">
                <a:solidFill>
                  <a:srgbClr val="FF0000"/>
                </a:solidFill>
              </a:rPr>
              <a:t>Substring</a:t>
            </a:r>
            <a:r>
              <a:rPr lang="es-MX" sz="3200" u="sng" dirty="0">
                <a:solidFill>
                  <a:srgbClr val="FF0000"/>
                </a:solidFill>
              </a:rPr>
              <a:t>(inicio,[fin]):</a:t>
            </a:r>
            <a:r>
              <a:rPr lang="es-MX" sz="3200" dirty="0">
                <a:solidFill>
                  <a:srgbClr val="FF0000"/>
                </a:solidFill>
              </a:rPr>
              <a:t> </a:t>
            </a:r>
          </a:p>
          <a:p>
            <a:pPr algn="just"/>
            <a:endParaRPr lang="es-MX" sz="3200" dirty="0">
              <a:solidFill>
                <a:srgbClr val="FF0000"/>
              </a:solidFill>
            </a:endParaRPr>
          </a:p>
          <a:p>
            <a:pPr algn="just"/>
            <a:r>
              <a:rPr lang="es-MX" sz="3200" dirty="0"/>
              <a:t>Obtiene una sección del </a:t>
            </a:r>
            <a:r>
              <a:rPr lang="es-MX" sz="3200" dirty="0" err="1"/>
              <a:t>string</a:t>
            </a:r>
            <a:r>
              <a:rPr lang="es-MX" sz="3200" dirty="0"/>
              <a:t> Original, el valor de inicio debe darse de acuerdo a la posición indexada. El valor de fin, indica el número de caracteres a traer. Este valor es opcional:</a:t>
            </a:r>
          </a:p>
          <a:p>
            <a:pPr algn="just"/>
            <a:endParaRPr lang="es-MX" sz="3200" dirty="0"/>
          </a:p>
          <a:p>
            <a:pPr algn="just"/>
            <a:r>
              <a:rPr lang="es-MX" sz="3200" dirty="0"/>
              <a:t>		</a:t>
            </a:r>
            <a:r>
              <a:rPr lang="es-MX" sz="2800" i="1" dirty="0" err="1"/>
              <a:t>String</a:t>
            </a:r>
            <a:r>
              <a:rPr lang="es-MX" sz="2800" i="1" dirty="0"/>
              <a:t> texto = “Hola Mundo!!!”;</a:t>
            </a:r>
          </a:p>
          <a:p>
            <a:pPr algn="just"/>
            <a:r>
              <a:rPr lang="es-MX" sz="2800" i="1" dirty="0"/>
              <a:t>		</a:t>
            </a:r>
            <a:r>
              <a:rPr lang="es-MX" sz="2800" i="1" dirty="0" err="1"/>
              <a:t>Console.WriteLine</a:t>
            </a:r>
            <a:r>
              <a:rPr lang="es-MX" sz="2800" i="1" dirty="0"/>
              <a:t>(</a:t>
            </a:r>
            <a:r>
              <a:rPr lang="es-MX" sz="2800" i="1" dirty="0" err="1"/>
              <a:t>texto.Substring</a:t>
            </a:r>
            <a:r>
              <a:rPr lang="es-MX" sz="2800" i="1" dirty="0"/>
              <a:t>(0,4));</a:t>
            </a:r>
          </a:p>
          <a:p>
            <a:pPr algn="just"/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241852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B16EF4-B2EE-4C74-B840-F43FB0EB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Manejo de </a:t>
            </a:r>
            <a:r>
              <a:rPr lang="es-MX" dirty="0" err="1"/>
              <a:t>Strings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412910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F531CD9-4372-439C-B3DC-73ABB66B5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0"/>
            <a:ext cx="5106025" cy="1179443"/>
          </a:xfrm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 prst="coolSlant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s-MX" dirty="0"/>
              <a:t>Ejemplo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7AA561F-D945-46EA-A78E-C66593EF82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1548" y="119270"/>
            <a:ext cx="5728253" cy="6626087"/>
          </a:xfrm>
        </p:spPr>
        <p:txBody>
          <a:bodyPr>
            <a:normAutofit lnSpcReduction="10000"/>
          </a:bodyPr>
          <a:lstStyle/>
          <a:p>
            <a:r>
              <a:rPr lang="es-MX" sz="1200" b="1" dirty="0" err="1"/>
              <a:t>class</a:t>
            </a:r>
            <a:r>
              <a:rPr lang="es-MX" sz="1200" b="1" dirty="0"/>
              <a:t> </a:t>
            </a:r>
            <a:r>
              <a:rPr lang="es-MX" sz="1200" b="1" dirty="0" err="1"/>
              <a:t>Program</a:t>
            </a:r>
            <a:endParaRPr lang="es-MX" sz="1200" b="1" dirty="0"/>
          </a:p>
          <a:p>
            <a:r>
              <a:rPr lang="es-MX" sz="1200" b="1" dirty="0"/>
              <a:t>    {</a:t>
            </a:r>
          </a:p>
          <a:p>
            <a:r>
              <a:rPr lang="es-MX" sz="1200" b="1" dirty="0"/>
              <a:t>        </a:t>
            </a:r>
            <a:r>
              <a:rPr lang="es-MX" sz="1200" b="1" dirty="0" err="1"/>
              <a:t>static</a:t>
            </a:r>
            <a:r>
              <a:rPr lang="es-MX" sz="1200" b="1" dirty="0"/>
              <a:t> </a:t>
            </a:r>
            <a:r>
              <a:rPr lang="es-MX" sz="1200" b="1" dirty="0" err="1"/>
              <a:t>void</a:t>
            </a:r>
            <a:r>
              <a:rPr lang="es-MX" sz="1200" b="1" dirty="0"/>
              <a:t> </a:t>
            </a:r>
            <a:r>
              <a:rPr lang="es-MX" sz="1200" b="1" dirty="0" err="1"/>
              <a:t>Main</a:t>
            </a:r>
            <a:r>
              <a:rPr lang="es-MX" sz="1200" b="1" dirty="0"/>
              <a:t>(</a:t>
            </a:r>
            <a:r>
              <a:rPr lang="es-MX" sz="1200" b="1" dirty="0" err="1"/>
              <a:t>string</a:t>
            </a:r>
            <a:r>
              <a:rPr lang="es-MX" sz="1200" b="1" dirty="0"/>
              <a:t>[] </a:t>
            </a:r>
            <a:r>
              <a:rPr lang="es-MX" sz="1200" b="1" dirty="0" err="1"/>
              <a:t>args</a:t>
            </a:r>
            <a:r>
              <a:rPr lang="es-MX" sz="1200" b="1" dirty="0"/>
              <a:t>)</a:t>
            </a:r>
          </a:p>
          <a:p>
            <a:r>
              <a:rPr lang="es-MX" sz="1200" b="1" dirty="0"/>
              <a:t>        {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string</a:t>
            </a:r>
            <a:r>
              <a:rPr lang="es-MX" sz="1200" b="1" dirty="0"/>
              <a:t> texto="Hola Mundo!!!";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(texto);</a:t>
            </a:r>
          </a:p>
          <a:p>
            <a:r>
              <a:rPr lang="es-MX" sz="1200" b="1" dirty="0"/>
              <a:t>            //Convierte la variable </a:t>
            </a:r>
            <a:r>
              <a:rPr lang="es-MX" sz="1200" b="1" dirty="0" err="1"/>
              <a:t>string</a:t>
            </a:r>
            <a:r>
              <a:rPr lang="es-MX" sz="1200" b="1" dirty="0"/>
              <a:t> a minúsculas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</a:t>
            </a:r>
            <a:r>
              <a:rPr lang="es-MX" sz="1200" b="1" dirty="0" err="1"/>
              <a:t>texto.ToLower</a:t>
            </a:r>
            <a:r>
              <a:rPr lang="es-MX" sz="1200" b="1" dirty="0"/>
              <a:t>());      </a:t>
            </a:r>
          </a:p>
          <a:p>
            <a:r>
              <a:rPr lang="es-MX" sz="1200" b="1" dirty="0"/>
              <a:t>            //Convierte la variable </a:t>
            </a:r>
            <a:r>
              <a:rPr lang="es-MX" sz="1200" b="1" dirty="0" err="1"/>
              <a:t>string</a:t>
            </a:r>
            <a:r>
              <a:rPr lang="es-MX" sz="1200" b="1" dirty="0"/>
              <a:t> a MAYÚSCULAS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</a:t>
            </a:r>
            <a:r>
              <a:rPr lang="es-MX" sz="1200" b="1" dirty="0" err="1"/>
              <a:t>texto.ToUpper</a:t>
            </a:r>
            <a:r>
              <a:rPr lang="es-MX" sz="1200" b="1" dirty="0"/>
              <a:t>());</a:t>
            </a:r>
          </a:p>
          <a:p>
            <a:r>
              <a:rPr lang="es-MX" sz="1200" b="1" dirty="0"/>
              <a:t>            //Obtiene una sección del </a:t>
            </a:r>
            <a:r>
              <a:rPr lang="es-MX" sz="1200" b="1" dirty="0" err="1"/>
              <a:t>string</a:t>
            </a:r>
            <a:r>
              <a:rPr lang="es-MX" sz="1200" b="1" dirty="0"/>
              <a:t> original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</a:t>
            </a:r>
            <a:r>
              <a:rPr lang="es-MX" sz="1200" b="1" dirty="0" err="1"/>
              <a:t>texto.Substring</a:t>
            </a:r>
            <a:r>
              <a:rPr lang="es-MX" sz="1200" b="1" dirty="0"/>
              <a:t>(0, 4));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</a:t>
            </a:r>
            <a:r>
              <a:rPr lang="es-MX" sz="1200" b="1" dirty="0" err="1"/>
              <a:t>texto.Substring</a:t>
            </a:r>
            <a:r>
              <a:rPr lang="es-MX" sz="1200" b="1" dirty="0"/>
              <a:t>(5));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</a:t>
            </a:r>
            <a:r>
              <a:rPr lang="es-MX" sz="1200" b="1" dirty="0" err="1"/>
              <a:t>texto.Substring</a:t>
            </a:r>
            <a:r>
              <a:rPr lang="es-MX" sz="1200" b="1" dirty="0"/>
              <a:t>(5,5));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</a:t>
            </a:r>
            <a:r>
              <a:rPr lang="es-MX" sz="1200" b="1" dirty="0" err="1"/>
              <a:t>texto.Substring</a:t>
            </a:r>
            <a:r>
              <a:rPr lang="es-MX" sz="1200" b="1" dirty="0"/>
              <a:t>(5, 6));</a:t>
            </a:r>
          </a:p>
          <a:p>
            <a:r>
              <a:rPr lang="es-MX" sz="1200" b="1" dirty="0"/>
              <a:t>            //Obtiene un </a:t>
            </a:r>
            <a:r>
              <a:rPr lang="es-MX" sz="1200" b="1" dirty="0" err="1"/>
              <a:t>caracter</a:t>
            </a:r>
            <a:r>
              <a:rPr lang="es-MX" sz="1200" b="1" dirty="0"/>
              <a:t> del </a:t>
            </a:r>
            <a:r>
              <a:rPr lang="es-MX" sz="1200" b="1" dirty="0" err="1"/>
              <a:t>string</a:t>
            </a:r>
            <a:r>
              <a:rPr lang="es-MX" sz="1200" b="1" dirty="0"/>
              <a:t> original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</a:t>
            </a:r>
            <a:r>
              <a:rPr lang="es-MX" sz="1200" b="1" dirty="0" err="1"/>
              <a:t>texto.Substring</a:t>
            </a:r>
            <a:r>
              <a:rPr lang="es-MX" sz="1200" b="1" dirty="0"/>
              <a:t>(0, 1));</a:t>
            </a:r>
          </a:p>
          <a:p>
            <a:r>
              <a:rPr lang="es-MX" sz="1200" b="1" dirty="0"/>
              <a:t>    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</a:t>
            </a:r>
            <a:r>
              <a:rPr lang="es-MX" sz="1200" b="1" dirty="0" err="1"/>
              <a:t>texto.Substring</a:t>
            </a:r>
            <a:r>
              <a:rPr lang="es-MX" sz="1200" b="1" dirty="0"/>
              <a:t>(5, 1));</a:t>
            </a:r>
          </a:p>
          <a:p>
            <a:r>
              <a:rPr lang="es-MX" sz="1200" b="1" dirty="0"/>
              <a:t>        }</a:t>
            </a:r>
          </a:p>
          <a:p>
            <a:r>
              <a:rPr lang="es-MX" sz="1200" b="1" dirty="0"/>
              <a:t>    }</a:t>
            </a:r>
          </a:p>
        </p:txBody>
      </p:sp>
      <p:pic>
        <p:nvPicPr>
          <p:cNvPr id="8" name="Marcador de contenido 7" descr="Imagen que contiene negro&#10;&#10;Descripción generada automáticamente">
            <a:extLst>
              <a:ext uri="{FF2B5EF4-FFF2-40B4-BE49-F238E27FC236}">
                <a16:creationId xmlns:a16="http://schemas.microsoft.com/office/drawing/2014/main" id="{DE82FAA4-5FD6-45A0-8DDB-671FCB4F00E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3" y="1179443"/>
            <a:ext cx="5106024" cy="4916557"/>
          </a:xfr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70CB65C-4B62-41A0-A34D-87A41242D951}"/>
              </a:ext>
            </a:extLst>
          </p:cNvPr>
          <p:cNvCxnSpPr>
            <a:cxnSpLocks/>
          </p:cNvCxnSpPr>
          <p:nvPr/>
        </p:nvCxnSpPr>
        <p:spPr>
          <a:xfrm>
            <a:off x="3516923" y="1885071"/>
            <a:ext cx="2579077" cy="116007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ED93B3C-1EEE-4CE5-86BA-9D1752C4206B}"/>
              </a:ext>
            </a:extLst>
          </p:cNvPr>
          <p:cNvCxnSpPr>
            <a:cxnSpLocks/>
          </p:cNvCxnSpPr>
          <p:nvPr/>
        </p:nvCxnSpPr>
        <p:spPr>
          <a:xfrm flipV="1">
            <a:off x="4389120" y="2444313"/>
            <a:ext cx="1706880" cy="116007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4BB3641-3633-4A1A-BBC1-24E74EF1F56C}"/>
              </a:ext>
            </a:extLst>
          </p:cNvPr>
          <p:cNvCxnSpPr>
            <a:cxnSpLocks/>
          </p:cNvCxnSpPr>
          <p:nvPr/>
        </p:nvCxnSpPr>
        <p:spPr>
          <a:xfrm flipV="1">
            <a:off x="4389120" y="2827606"/>
            <a:ext cx="1706880" cy="352916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FE441C7-437A-4442-99A5-99824FA1D402}"/>
              </a:ext>
            </a:extLst>
          </p:cNvPr>
          <p:cNvCxnSpPr>
            <a:cxnSpLocks/>
          </p:cNvCxnSpPr>
          <p:nvPr/>
        </p:nvCxnSpPr>
        <p:spPr>
          <a:xfrm flipV="1">
            <a:off x="4740812" y="3332922"/>
            <a:ext cx="1355188" cy="549762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886BB65-D9F6-419D-8AE8-18D6A97CB0AD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41520" y="3637722"/>
            <a:ext cx="1630683" cy="540384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42F8DD2-FB04-412D-BEF3-32DE79142018}"/>
              </a:ext>
            </a:extLst>
          </p:cNvPr>
          <p:cNvCxnSpPr>
            <a:cxnSpLocks/>
          </p:cNvCxnSpPr>
          <p:nvPr/>
        </p:nvCxnSpPr>
        <p:spPr>
          <a:xfrm flipV="1">
            <a:off x="4693920" y="4035084"/>
            <a:ext cx="1402080" cy="424274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CAEADBD-2EB9-40AD-B29F-36AEB076CDB6}"/>
              </a:ext>
            </a:extLst>
          </p:cNvPr>
          <p:cNvCxnSpPr>
            <a:cxnSpLocks/>
          </p:cNvCxnSpPr>
          <p:nvPr/>
        </p:nvCxnSpPr>
        <p:spPr>
          <a:xfrm flipV="1">
            <a:off x="4740812" y="4482906"/>
            <a:ext cx="1355188" cy="373814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42BDCF3-1775-4BAB-948B-6CD5FBCF1276}"/>
              </a:ext>
            </a:extLst>
          </p:cNvPr>
          <p:cNvCxnSpPr>
            <a:cxnSpLocks/>
          </p:cNvCxnSpPr>
          <p:nvPr/>
        </p:nvCxnSpPr>
        <p:spPr>
          <a:xfrm flipV="1">
            <a:off x="4740812" y="4880268"/>
            <a:ext cx="1355188" cy="639060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6E0DAF4-97BE-4B26-9CA1-7DFA6760138F}"/>
              </a:ext>
            </a:extLst>
          </p:cNvPr>
          <p:cNvCxnSpPr>
            <a:cxnSpLocks/>
          </p:cNvCxnSpPr>
          <p:nvPr/>
        </p:nvCxnSpPr>
        <p:spPr>
          <a:xfrm flipV="1">
            <a:off x="4740812" y="5357549"/>
            <a:ext cx="1378634" cy="457201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47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B16EF4-B2EE-4C74-B840-F43FB0EB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Manejo de </a:t>
            </a:r>
            <a:r>
              <a:rPr lang="es-MX" dirty="0" err="1"/>
              <a:t>Strings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Actividad</a:t>
            </a:r>
          </a:p>
        </p:txBody>
      </p:sp>
    </p:spTree>
    <p:extLst>
      <p:ext uri="{BB962C8B-B14F-4D97-AF65-F5344CB8AC3E}">
        <p14:creationId xmlns:p14="http://schemas.microsoft.com/office/powerpoint/2010/main" val="1987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9EEEEA0-8671-4814-97F1-FAE29632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s-MX" sz="4400"/>
              <a:t>Actividad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18" name="Marcador de contenido 6">
            <a:extLst>
              <a:ext uri="{FF2B5EF4-FFF2-40B4-BE49-F238E27FC236}">
                <a16:creationId xmlns:a16="http://schemas.microsoft.com/office/drawing/2014/main" id="{D432F1A5-9DFE-49BA-BA27-72D1DDE020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70317186"/>
              </p:ext>
            </p:extLst>
          </p:nvPr>
        </p:nvGraphicFramePr>
        <p:xfrm>
          <a:off x="4964770" y="1343991"/>
          <a:ext cx="6305371" cy="415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5671650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Panorámica</PresentationFormat>
  <Paragraphs>157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Tw Cen MT</vt:lpstr>
      <vt:lpstr>Wingdings</vt:lpstr>
      <vt:lpstr>Gota</vt:lpstr>
      <vt:lpstr>Manejo de Strings</vt:lpstr>
      <vt:lpstr>Presentación de PowerPoint</vt:lpstr>
      <vt:lpstr>Presentación de PowerPoint</vt:lpstr>
      <vt:lpstr>Presentación de PowerPoint</vt:lpstr>
      <vt:lpstr>Presentación de PowerPoint</vt:lpstr>
      <vt:lpstr>Manejo de Strings</vt:lpstr>
      <vt:lpstr>Ejemplo</vt:lpstr>
      <vt:lpstr>Manejo de Strings</vt:lpstr>
      <vt:lpstr>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Manejo de Strings</dc:title>
  <dc:creator>carolina hernandez</dc:creator>
  <cp:lastModifiedBy>carolina hernandez</cp:lastModifiedBy>
  <cp:revision>1</cp:revision>
  <dcterms:created xsi:type="dcterms:W3CDTF">2020-03-18T22:38:50Z</dcterms:created>
  <dcterms:modified xsi:type="dcterms:W3CDTF">2020-03-18T22:39:47Z</dcterms:modified>
</cp:coreProperties>
</file>